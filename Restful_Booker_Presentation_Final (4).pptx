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Q4ddWbFBLWDg0H1cRTKL83guh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481B11-2D76-49EA-A428-92F06416CD72}">
  <a:tblStyle styleId="{B2481B11-2D76-49EA-A428-92F06416CD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6c9a137d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d6c9a137d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d6c9a137d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6c9a137d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6c9a137d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6c9a137d1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D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988552" y="548640"/>
            <a:ext cx="3840480" cy="3840480"/>
          </a:xfrm>
          <a:prstGeom prst="ellipse">
            <a:avLst/>
          </a:prstGeom>
          <a:solidFill>
            <a:srgbClr val="153559"/>
          </a:solidFill>
          <a:ln cap="flat" cmpd="sng" w="12700">
            <a:solidFill>
              <a:srgbClr val="153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725912" y="-1828800"/>
            <a:ext cx="2926080" cy="2926080"/>
          </a:xfrm>
          <a:prstGeom prst="ellipse">
            <a:avLst/>
          </a:prstGeom>
          <a:solidFill>
            <a:srgbClr val="153559"/>
          </a:solidFill>
          <a:ln cap="flat" cmpd="sng" w="12700">
            <a:solidFill>
              <a:srgbClr val="153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BCDE"/>
          </a:solidFill>
          <a:ln cap="flat" cmpd="sng" w="12700">
            <a:solidFill>
              <a:srgbClr val="2FBC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118872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Restful Booker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331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API Testing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3246120"/>
            <a:ext cx="4114800" cy="4572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3977640"/>
            <a:ext cx="5029200" cy="1005840"/>
          </a:xfrm>
          <a:prstGeom prst="rect">
            <a:avLst/>
          </a:prstGeom>
          <a:solidFill>
            <a:srgbClr val="153553"/>
          </a:solidFill>
          <a:ln cap="flat" cmpd="sng" w="12700">
            <a:solidFill>
              <a:srgbClr val="23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31520" y="3977640"/>
            <a:ext cx="73152" cy="100584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60120" y="4114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Hamza Belal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60120" y="44805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Authentication &amp; Health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35040" y="3977640"/>
            <a:ext cx="5029200" cy="1005840"/>
          </a:xfrm>
          <a:prstGeom prst="rect">
            <a:avLst/>
          </a:prstGeom>
          <a:solidFill>
            <a:srgbClr val="153553"/>
          </a:solidFill>
          <a:ln cap="flat" cmpd="sng" w="12700">
            <a:solidFill>
              <a:srgbClr val="23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035040" y="3977640"/>
            <a:ext cx="73152" cy="100584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263640" y="4114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Moneera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263640" y="44805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Get Bookings &amp; Filtering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0" y="5166360"/>
            <a:ext cx="5029200" cy="1005840"/>
          </a:xfrm>
          <a:prstGeom prst="rect">
            <a:avLst/>
          </a:prstGeom>
          <a:solidFill>
            <a:srgbClr val="153553"/>
          </a:solidFill>
          <a:ln cap="flat" cmpd="sng" w="12700">
            <a:solidFill>
              <a:srgbClr val="23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31520" y="5166360"/>
            <a:ext cx="73152" cy="100584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60120" y="53035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Fadi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60120" y="56692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Booking Creation &amp; Update (PUT)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035040" y="5166360"/>
            <a:ext cx="5029200" cy="1005840"/>
          </a:xfrm>
          <a:prstGeom prst="rect">
            <a:avLst/>
          </a:prstGeom>
          <a:solidFill>
            <a:srgbClr val="153553"/>
          </a:solidFill>
          <a:ln cap="flat" cmpd="sng" w="12700">
            <a:solidFill>
              <a:srgbClr val="23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035040" y="5166360"/>
            <a:ext cx="73152" cy="100584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263640" y="53035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Hassan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263640" y="56692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Partial Update &amp; 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C93"/>
                </a:solidFill>
                <a:latin typeface="Consolas"/>
                <a:ea typeface="Consolas"/>
                <a:cs typeface="Consolas"/>
                <a:sym typeface="Consolas"/>
              </a:rPr>
              <a:t>https://restful-booker.herokuapp.com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6c9a137d1_0_0"/>
          <p:cNvSpPr/>
          <p:nvPr/>
        </p:nvSpPr>
        <p:spPr>
          <a:xfrm>
            <a:off x="0" y="0"/>
            <a:ext cx="12189000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d6c9a137d1_0_0"/>
          <p:cNvSpPr/>
          <p:nvPr/>
        </p:nvSpPr>
        <p:spPr>
          <a:xfrm>
            <a:off x="457200" y="164592"/>
            <a:ext cx="8229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6c9a137d1_0_0"/>
          <p:cNvSpPr/>
          <p:nvPr/>
        </p:nvSpPr>
        <p:spPr>
          <a:xfrm>
            <a:off x="8531352" y="256032"/>
            <a:ext cx="3200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Hamza Belal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d6c9a137d1_0_0"/>
          <p:cNvSpPr/>
          <p:nvPr/>
        </p:nvSpPr>
        <p:spPr>
          <a:xfrm>
            <a:off x="457200" y="1280160"/>
            <a:ext cx="5486400" cy="54870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d6c9a137d1_0_0"/>
          <p:cNvSpPr/>
          <p:nvPr/>
        </p:nvSpPr>
        <p:spPr>
          <a:xfrm>
            <a:off x="822895" y="1000510"/>
            <a:ext cx="51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Project Overview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d6c9a137d1_0_0"/>
          <p:cNvSpPr/>
          <p:nvPr/>
        </p:nvSpPr>
        <p:spPr>
          <a:xfrm>
            <a:off x="457200" y="1799800"/>
            <a:ext cx="5486400" cy="495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6c9a137d1_0_0"/>
          <p:cNvSpPr/>
          <p:nvPr/>
        </p:nvSpPr>
        <p:spPr>
          <a:xfrm>
            <a:off x="580970" y="203398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700"/>
              <a:buFont typeface="Calibri"/>
              <a:buNone/>
            </a:pPr>
            <a:r>
              <a:t/>
            </a:r>
            <a:endParaRPr b="1" sz="1700">
              <a:solidFill>
                <a:srgbClr val="0F1D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d6c9a137d1_0_0"/>
          <p:cNvSpPr/>
          <p:nvPr/>
        </p:nvSpPr>
        <p:spPr>
          <a:xfrm>
            <a:off x="580975" y="2194600"/>
            <a:ext cx="49377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700"/>
              <a:buFont typeface="Calibri"/>
              <a:buNone/>
            </a:pPr>
            <a:r>
              <a:rPr lang="en-US" sz="2000">
                <a:solidFill>
                  <a:schemeClr val="dk1"/>
                </a:solidFill>
              </a:rPr>
              <a:t>The </a:t>
            </a:r>
            <a:r>
              <a:rPr i="1" lang="en-US" sz="2000">
                <a:solidFill>
                  <a:schemeClr val="dk1"/>
                </a:solidFill>
              </a:rPr>
              <a:t>Restful Booker API Testing Project</a:t>
            </a:r>
            <a:r>
              <a:rPr lang="en-US" sz="2000">
                <a:solidFill>
                  <a:schemeClr val="dk1"/>
                </a:solidFill>
              </a:rPr>
              <a:t> focuses on testing a real-world REST API designed for booking management.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d6c9a137d1_0_0"/>
          <p:cNvSpPr/>
          <p:nvPr/>
        </p:nvSpPr>
        <p:spPr>
          <a:xfrm>
            <a:off x="6217920" y="1280160"/>
            <a:ext cx="5486400" cy="5487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6c9a137d1_0_0"/>
          <p:cNvSpPr/>
          <p:nvPr/>
        </p:nvSpPr>
        <p:spPr>
          <a:xfrm>
            <a:off x="6675115" y="1453872"/>
            <a:ext cx="51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Project Objectives</a:t>
            </a: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6c9a137d1_0_0"/>
          <p:cNvSpPr/>
          <p:nvPr/>
        </p:nvSpPr>
        <p:spPr>
          <a:xfrm>
            <a:off x="6217920" y="1828800"/>
            <a:ext cx="5486400" cy="402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d6c9a137d1_0_0"/>
          <p:cNvSpPr/>
          <p:nvPr/>
        </p:nvSpPr>
        <p:spPr>
          <a:xfrm>
            <a:off x="6321050" y="2285990"/>
            <a:ext cx="5017800" cy="3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Validate API functionality across all endpoints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Ensure correct handling of requests and responses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Identify bugs and unexpected behavior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Apply different testing techniques (positive, negative, boundary, security)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Hamza Belal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🌐   Website Under 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Restful Booker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31520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 demo REST API for booking management.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URL: </a:t>
            </a:r>
            <a:r>
              <a:rPr b="0" i="0" lang="en-US" sz="14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https://restful-booker.herokuapp.com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Endpoints Covered: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14400" y="43891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/auth — Token Generation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/booking — Create, Read, Update, Delete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/ping — Health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492240" y="128016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🛠   Tools Used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217920" y="1828800"/>
            <a:ext cx="54864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492240" y="2194560"/>
            <a:ext cx="4937760" cy="749808"/>
          </a:xfrm>
          <a:prstGeom prst="rect">
            <a:avLst/>
          </a:prstGeom>
          <a:solidFill>
            <a:srgbClr val="E0F2FA"/>
          </a:solidFill>
          <a:ln cap="flat" cmpd="sng" w="12700">
            <a:solidFill>
              <a:srgbClr val="C2E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675120" y="254203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API request testing &amp; 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92240" y="3035808"/>
            <a:ext cx="4937760" cy="749808"/>
          </a:xfrm>
          <a:prstGeom prst="rect">
            <a:avLst/>
          </a:prstGeom>
          <a:solidFill>
            <a:srgbClr val="E0F2FA"/>
          </a:solidFill>
          <a:ln cap="flat" cmpd="sng" w="12700">
            <a:solidFill>
              <a:srgbClr val="C2E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675120" y="308152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75120" y="3383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HTTP methods: GET, POST, PUT, PATCH, 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492240" y="3877056"/>
            <a:ext cx="4937760" cy="749808"/>
          </a:xfrm>
          <a:prstGeom prst="rect">
            <a:avLst/>
          </a:prstGeom>
          <a:solidFill>
            <a:srgbClr val="E0F2FA"/>
          </a:solidFill>
          <a:ln cap="flat" cmpd="sng" w="12700">
            <a:solidFill>
              <a:srgbClr val="C2E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675120" y="3922776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675120" y="422452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Request body &amp; response 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492240" y="4718304"/>
            <a:ext cx="4937760" cy="749808"/>
          </a:xfrm>
          <a:prstGeom prst="rect">
            <a:avLst/>
          </a:prstGeom>
          <a:solidFill>
            <a:srgbClr val="E0F2FA"/>
          </a:solidFill>
          <a:ln cap="flat" cmpd="sng" w="12700">
            <a:solidFill>
              <a:srgbClr val="C2E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6675120" y="4764024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Environment Vars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675120" y="506577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{{base_url}}, {{username}}, {{password}}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5F9FC"/>
          </a:solidFill>
          <a:ln cap="flat" cmpd="sng" w="12700">
            <a:solidFill>
              <a:srgbClr val="F5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57200" y="64008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onsolas"/>
                <a:ea typeface="Consolas"/>
                <a:cs typeface="Consolas"/>
                <a:sym typeface="Consolas"/>
              </a:rPr>
              <a:t>Postman Workspace: hamzabelal377-60219.postman.co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Hamza Did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Hamza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" y="1188720"/>
            <a:ext cx="3703320" cy="173736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48640" y="1417320"/>
            <a:ext cx="35204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214426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8640" y="254386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TC-001 to TC-008 + TC-084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343400" y="1188720"/>
            <a:ext cx="3703320" cy="173736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434840" y="1417320"/>
            <a:ext cx="35204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434840" y="214426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434840" y="254386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&amp; Health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229600" y="1188720"/>
            <a:ext cx="3703320" cy="173736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321040" y="1417320"/>
            <a:ext cx="35204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321040" y="214426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321040" y="254386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All Passed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3108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Test Cases Covered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3"/>
          <p:cNvGraphicFramePr/>
          <p:nvPr/>
        </p:nvGraphicFramePr>
        <p:xfrm>
          <a:off x="45720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{B2481B11-2D76-49EA-A428-92F06416CD72}</a:tableStyleId>
              </a:tblPr>
              <a:tblGrid>
                <a:gridCol w="1371600"/>
                <a:gridCol w="7616950"/>
                <a:gridCol w="22860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Valid Credentials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Invalid Username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Invalid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Empty Username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Empty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Missing Username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Missing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Token – Special Characters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 Check – API is Running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Process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Hamza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How Hamza Tested the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23444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Identify Auth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23444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Mapped out positive and negative cases for /auth and /ping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Configure Postman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344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Set up environment variables: base_url, username, 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23444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Build Token Requests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234440" y="38404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Created POST /auth requests with different credential combinations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438912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234440" y="4389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Assert Responses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234440" y="4709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Verified status 200, response body contains token or 'Bad credentials'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525780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5720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234440" y="5257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Document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Logged pass/fail status for each scenario in the test case sheet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400800" y="1188720"/>
            <a:ext cx="5330952" cy="54864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675120" y="1188720"/>
            <a:ext cx="4965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Test Cases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400800" y="1737360"/>
            <a:ext cx="5330952" cy="4663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675120" y="19202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903720" y="18928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Positive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903720" y="22219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Valid admin / password123 → token returned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675120" y="265176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903720" y="262432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Negative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903720" y="295351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Invalid username, wrong password → Bad credentials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675120" y="338328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903720" y="335584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Empty Field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903720" y="368503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Empty username or password fields handled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675120" y="411480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903720" y="408736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Missing Field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903720" y="441655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Body without username or password 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675120" y="484632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903720" y="481888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Special Characters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903720" y="514807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Input like admin@##) to check sanitization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675120" y="55778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903720" y="55504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Health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903720" y="58795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GET /ping returns 201 Created (API is running)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Moneera Did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Moneera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486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86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486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TC-009 to TC-030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434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4348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4348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4348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Bookings &amp; Get by 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2296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3210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3210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3210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All Passed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4008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/booking  (TC-009–019)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31520" y="36118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Fetch all booking IDs and filter the list using query parameters.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31520" y="4206240"/>
            <a:ext cx="51663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Fetch all booking IDs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Filter by firstname, lastname, checkin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Filter by date range &amp; combined filters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Search for non-existent name (empty array)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date format handling (500 response)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SQL injection attempt (sanitized result)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Missing endpoint → 404, wrong method → 500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21792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40080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/booking/:id  (TC-020–030)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21792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492240" y="36118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Retrieve a single booking by ID and validate the response payload.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492240" y="4206240"/>
            <a:ext cx="51663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Valid ID retrieval with full booking details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IDs: non-existent, string, special chars → 404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Boundary IDs: 0, negative, very large (9223372036854775807)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Data integrity: totalprice is number, bookingdates object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Response speed under 1000ms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D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Authorized access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Process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Moneera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How Moneera Tested the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23444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Plan GET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23444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Listed filter combinations and ID lookup cases for both GET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Build Query Requests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2344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Created GET /booking with query params: firstname, lastname, checkin, 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23444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Execute Lookups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234440" y="38404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Sent GET /booking/:id with valid, invalid, edge-case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7200" y="438912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234440" y="4389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Validate Response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234440" y="4709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Checked arrays, IDs, field types (totalprice, bookingdates)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525780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720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234440" y="5257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Log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Recorded status codes, response times, any anomalies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400800" y="1188720"/>
            <a:ext cx="5330952" cy="54864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675120" y="1188720"/>
            <a:ext cx="4965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Test Cases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400800" y="1737360"/>
            <a:ext cx="5330952" cy="4663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675120" y="19202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6903720" y="18928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Positive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903720" y="22219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Valid IDs and filters return expected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675120" y="265176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6903720" y="262432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Negative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903720" y="295351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Non-existent IDs, invalid formats, wrong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675120" y="338328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6903720" y="335584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Boundary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903720" y="368503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ID = 0, negative IDs, very large IDs (9223372036854775807)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675120" y="411480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903720" y="408736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Security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903720" y="441655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SQL injection attempt with ' OR '1'='1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675120" y="484632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903720" y="481888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903720" y="514807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Verified totalprice is number, bookingdates has checkin/checkout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675120" y="55778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903720" y="55504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Performance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903720" y="58795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Response time stays under 1000ms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Fadi Did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Fadi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486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486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486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TC-031 to TC-056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3434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4348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4348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4348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POST &amp; 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2296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83210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83210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3210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5720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4008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/booking  (TC-031–042)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5720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731520" y="3611880"/>
            <a:ext cx="516636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Create booking with all required fields and valid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Create without optional additional needs field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Boundary dates: same check-in/check-out, non-existent 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Special characters in first/last name (O'Neil, Mc'Arthy)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inputs: empty firstname, price as string →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logic: checkout before checkin, negative price →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Edge case: price = 0 accepted (noted as should not be allowed)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Type validation: firstname as number →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21792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40080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PUT /booking/:id  (TC-043–056)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21792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492240" y="3611880"/>
            <a:ext cx="516636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Full update with valid data using token header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Update using Basic Auth header instead of cookie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Update individual fields: total price, dates, additional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Special characters in firstname on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Send same data with no fields 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Authentication: without token / without basic auth → 403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scenarios: non-existent ID (404), empty required field (400)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Date validation: checkout before checkin, string format →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State: update a booking that was already deleted → 404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Process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Fadi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How Fadi Tested the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23444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Design CRUD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23444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Mapped valid and invalid payloads for both POST and 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Build JSON Bodies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2344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Crafted request bodies with full booking objects and edge-case variations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23444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Handle Authentication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1234440" y="38404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Tested PUT with cookie token and Basic Auth headers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57200" y="438912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234440" y="4389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Send &amp; Verify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1234440" y="4709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Checked 200 for success, 400 for invalid data, 403 for missing 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57200" y="525780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5720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234440" y="5257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Capture Anomalies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Noted behaviors like price = 0 being accepted (TC-041)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400800" y="1188720"/>
            <a:ext cx="5330952" cy="54864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675120" y="1188720"/>
            <a:ext cx="4965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Test Cases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400800" y="1737360"/>
            <a:ext cx="5330952" cy="4663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675120" y="19202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6903720" y="18928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Positive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903720" y="22219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Valid payload → booking created / updated successfully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675120" y="265176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903720" y="262432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Negative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903720" y="295351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Empty firstname, string price, invalid dates →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675120" y="338328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6903720" y="335584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Authentication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903720" y="368503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Missing token or Basic Auth → 403 Forbidden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675120" y="411480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903720" y="408736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Boundary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903720" y="441655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Same check-in / check-out, price = 0, negative price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675120" y="484632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6903720" y="481888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Special Characters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903720" y="514807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Names like O'Neil, Mc'Arthy in request body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675120" y="55778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903720" y="55504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State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6903720" y="58795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Attempt to update a booking that was deleted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Hassan Did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Hassan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572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5486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486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486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TC-057 to TC-083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3434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4348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4348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4348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PATCH &amp; 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229600" y="1188720"/>
            <a:ext cx="3703320" cy="155448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321040" y="141732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8321040" y="204368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Bugs Found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8321040" y="240121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B01 &amp; B02 &amp;B</a:t>
            </a:r>
            <a:r>
              <a:rPr lang="en-US" sz="1200">
                <a:solidFill>
                  <a:srgbClr val="DDEFF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5720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64008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PATCH /booking/:id  (TC-057–073)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5720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731520" y="3611880"/>
            <a:ext cx="516636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Valid updates: single field, multiple field</a:t>
            </a:r>
            <a:r>
              <a:rPr lang="en-US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Update additionalneeds and special characters in input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Authentication: without auth (403), with invalid token (403)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Edge cases: empty body, null values, malformed JSON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Invalid inputs: wrong Content-Type, invalid data types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Bug findings: excessively long input (B01), unknown fields ignored (B02)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State testing: update after deletion, invalid booking ID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217920" y="2971800"/>
            <a:ext cx="5623560" cy="50292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400800" y="297180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/booking/:id  (TC-074–083)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217920" y="3474720"/>
            <a:ext cx="56235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6492240" y="3611880"/>
            <a:ext cx="516636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with valid token and recently created booking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using cookie authentication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Verify deletion by GET request returns 404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with invalid ID → 405 Method Not Allowed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without auth or with invalid token → 403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booking twice → 405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Delete with missing or malformed ID → 404 / 405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Process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Hassan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lang="en-US" sz="2000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0" lang="en-US" sz="20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Tested the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23444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Define PATCH And </a:t>
            </a:r>
            <a:r>
              <a:rPr b="1" lang="en-US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elete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23444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Listed partial-update cases and destructive DELETE scenarios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Prepare Auth Contexts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2344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Generated tokens and used cookie auth for protected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23444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Send Partial Updates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1234440" y="38404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PATCH with single fields, multiple fields, nested bookingdates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57200" y="438912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1234440" y="4389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Validate Behavior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234440" y="4709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Expected 200 OK for valid, 403 for no-auth, 405 for bad 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57200" y="5257800"/>
            <a:ext cx="640080" cy="64008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5720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234440" y="5257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Discover Bugs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Found B01 (long input accepted) and B02 (unknown field ignored)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400800" y="1188720"/>
            <a:ext cx="5330952" cy="548640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6675120" y="1188720"/>
            <a:ext cx="4965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Test Cases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400800" y="1737360"/>
            <a:ext cx="5330952" cy="4663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6675120" y="19202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903720" y="18928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Positive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903720" y="22219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Valid partial updates applied correctly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675120" y="265176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903720" y="262432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Negative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903720" y="295351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Empty body, null values, malformed JSON, wrong Content-Type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675120" y="338328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6903720" y="335584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Authentication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903720" y="368503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Missing token and invalid token → 403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675120" y="411480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903720" y="408736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Boundary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903720" y="441655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Excessively long input strings (B01 finding)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675120" y="484632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6903720" y="481888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Schema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903720" y="514807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Unknown fields silently ignored (B02 finding)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6675120" y="5577840"/>
            <a:ext cx="73152" cy="59436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6903720" y="5550408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State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903720" y="5879592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Delete twice, update after deletion, verify via 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Report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Hassan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57200" y="1188720"/>
            <a:ext cx="2788920" cy="91440"/>
          </a:xfrm>
          <a:prstGeom prst="rect">
            <a:avLst/>
          </a:prstGeom>
          <a:solidFill>
            <a:srgbClr val="D9343F"/>
          </a:solidFill>
          <a:ln cap="flat" cmpd="sng" w="12700">
            <a:solidFill>
              <a:srgbClr val="D934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57200" y="1280160"/>
            <a:ext cx="2788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548640" y="141732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D9343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48640" y="21031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Total Bugs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383280" y="1188720"/>
            <a:ext cx="2788920" cy="91440"/>
          </a:xfrm>
          <a:prstGeom prst="rect">
            <a:avLst/>
          </a:prstGeom>
          <a:solidFill>
            <a:srgbClr val="E07B00"/>
          </a:solidFill>
          <a:ln cap="flat" cmpd="sng" w="12700">
            <a:solidFill>
              <a:srgbClr val="E07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3383280" y="1280160"/>
            <a:ext cx="2788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3474720" y="141732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0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E07B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3474720" y="21031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b="1" lang="en-US" sz="950">
                <a:solidFill>
                  <a:srgbClr val="999999"/>
                </a:solidFill>
              </a:rPr>
              <a:t>Severity </a:t>
            </a:r>
            <a:endParaRPr b="0" i="0" sz="1300" u="none" cap="none" strike="noStrik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309360" y="1188720"/>
            <a:ext cx="2788920" cy="91440"/>
          </a:xfrm>
          <a:prstGeom prst="rect">
            <a:avLst/>
          </a:prstGeom>
          <a:solidFill>
            <a:srgbClr val="2E9444"/>
          </a:solidFill>
          <a:ln cap="flat" cmpd="sng" w="12700">
            <a:solidFill>
              <a:srgbClr val="2E9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6309360" y="1280160"/>
            <a:ext cx="2788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6400800" y="141732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444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2E94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6400800" y="21031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Low </a:t>
            </a:r>
            <a:r>
              <a:rPr b="1" lang="en-US" sz="950">
                <a:solidFill>
                  <a:srgbClr val="999999"/>
                </a:solidFill>
              </a:rPr>
              <a:t>Severity</a:t>
            </a:r>
            <a:endParaRPr b="0" i="0" sz="1300" u="none" cap="none" strike="noStrik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9235440" y="1188720"/>
            <a:ext cx="2788920" cy="91440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9235440" y="1280160"/>
            <a:ext cx="2788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9326880" y="141732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9326880" y="21031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263050" y="2935200"/>
            <a:ext cx="7877400" cy="392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275" y="3611863"/>
            <a:ext cx="7600950" cy="31908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4" name="Google Shape;424;p11"/>
          <p:cNvSpPr txBox="1"/>
          <p:nvPr/>
        </p:nvSpPr>
        <p:spPr>
          <a:xfrm>
            <a:off x="2401275" y="3116525"/>
            <a:ext cx="6976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A5276"/>
                </a:solidFill>
              </a:rPr>
              <a:t>Critical Issues (High Severity)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6c9a137d1_0_33"/>
          <p:cNvSpPr/>
          <p:nvPr/>
        </p:nvSpPr>
        <p:spPr>
          <a:xfrm>
            <a:off x="0" y="0"/>
            <a:ext cx="12189000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6c9a137d1_0_33"/>
          <p:cNvSpPr/>
          <p:nvPr/>
        </p:nvSpPr>
        <p:spPr>
          <a:xfrm>
            <a:off x="457200" y="164592"/>
            <a:ext cx="8229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Learned as a Team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d6c9a137d1_0_33"/>
          <p:cNvSpPr/>
          <p:nvPr/>
        </p:nvSpPr>
        <p:spPr>
          <a:xfrm>
            <a:off x="8531352" y="256032"/>
            <a:ext cx="3200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Fadi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d6c9a137d1_0_3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6c9a137d1_0_33"/>
          <p:cNvSpPr/>
          <p:nvPr/>
        </p:nvSpPr>
        <p:spPr>
          <a:xfrm>
            <a:off x="457200" y="1783080"/>
            <a:ext cx="640200" cy="64020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6c9a137d1_0_33"/>
          <p:cNvSpPr/>
          <p:nvPr/>
        </p:nvSpPr>
        <p:spPr>
          <a:xfrm>
            <a:off x="457200" y="178308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d6c9a137d1_0_33"/>
          <p:cNvSpPr/>
          <p:nvPr/>
        </p:nvSpPr>
        <p:spPr>
          <a:xfrm>
            <a:off x="1200996" y="1849984"/>
            <a:ext cx="4572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Team Collaborat</a:t>
            </a:r>
            <a:r>
              <a:rPr b="1" lang="en-US" sz="2200">
                <a:solidFill>
                  <a:schemeClr val="dk1"/>
                </a:solidFill>
              </a:rPr>
              <a:t>i</a:t>
            </a:r>
            <a:r>
              <a:rPr b="1" lang="en-US" sz="2200">
                <a:solidFill>
                  <a:schemeClr val="dk1"/>
                </a:solidFill>
              </a:rPr>
              <a:t>on Experience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0F1D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d6c9a137d1_0_33"/>
          <p:cNvSpPr/>
          <p:nvPr/>
        </p:nvSpPr>
        <p:spPr>
          <a:xfrm>
            <a:off x="684125" y="2423275"/>
            <a:ext cx="102369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Divided work efficiently across modules (Auth, GET, POST, PUT, PATCH, DELETE)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Maintained clear communication to avoid overlap and confusion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Supported each other in solving issues and understanding API behavior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6B7C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d6c9a137d1_0_33"/>
          <p:cNvSpPr/>
          <p:nvPr/>
        </p:nvSpPr>
        <p:spPr>
          <a:xfrm>
            <a:off x="457188" y="4114805"/>
            <a:ext cx="640200" cy="640200"/>
          </a:xfrm>
          <a:prstGeom prst="ellipse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d6c9a137d1_0_33"/>
          <p:cNvSpPr/>
          <p:nvPr/>
        </p:nvSpPr>
        <p:spPr>
          <a:xfrm>
            <a:off x="457188" y="4114805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6c9a137d1_0_33"/>
          <p:cNvSpPr/>
          <p:nvPr/>
        </p:nvSpPr>
        <p:spPr>
          <a:xfrm>
            <a:off x="1234438" y="4214167"/>
            <a:ext cx="4572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Key Skills Developed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F1D36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0F1D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6c9a137d1_0_33"/>
          <p:cNvSpPr/>
          <p:nvPr/>
        </p:nvSpPr>
        <p:spPr>
          <a:xfrm>
            <a:off x="684133" y="4755000"/>
            <a:ext cx="86478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Teamwork and coordination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Time management and task distribution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Consistent documentation and reporting</a:t>
            </a:r>
            <a:endParaRPr sz="2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6B7C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C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D36"/>
          </a:solidFill>
          <a:ln cap="flat" cmpd="sng" w="12700">
            <a:solidFill>
              <a:srgbClr val="0F1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Cases Summary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8531352" y="25603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57200" y="1261872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457200" y="1188720"/>
            <a:ext cx="2788920" cy="109728"/>
          </a:xfrm>
          <a:prstGeom prst="rect">
            <a:avLst/>
          </a:prstGeom>
          <a:solidFill>
            <a:srgbClr val="3EA7D0"/>
          </a:solidFill>
          <a:ln cap="flat" cmpd="sng" w="12700">
            <a:solidFill>
              <a:srgbClr val="3EA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548640" y="15087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A7D0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3EA7D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48640" y="221284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Total 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383280" y="1261872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3383280" y="1188720"/>
            <a:ext cx="2788920" cy="109728"/>
          </a:xfrm>
          <a:prstGeom prst="rect">
            <a:avLst/>
          </a:prstGeom>
          <a:solidFill>
            <a:srgbClr val="2E9444"/>
          </a:solidFill>
          <a:ln cap="flat" cmpd="sng" w="12700">
            <a:solidFill>
              <a:srgbClr val="2E9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3474720" y="1508760"/>
            <a:ext cx="26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444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2E9444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3474720" y="221284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309360" y="1261872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6309360" y="1188720"/>
            <a:ext cx="2788920" cy="109728"/>
          </a:xfrm>
          <a:prstGeom prst="rect">
            <a:avLst/>
          </a:prstGeom>
          <a:solidFill>
            <a:srgbClr val="D9343F"/>
          </a:solidFill>
          <a:ln cap="flat" cmpd="sng" w="12700">
            <a:solidFill>
              <a:srgbClr val="D934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6400800" y="15087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D9343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400800" y="221284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9235440" y="1261872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9235440" y="1188720"/>
            <a:ext cx="2788920" cy="109728"/>
          </a:xfrm>
          <a:prstGeom prst="rect">
            <a:avLst/>
          </a:prstGeom>
          <a:solidFill>
            <a:srgbClr val="E07B00"/>
          </a:solidFill>
          <a:ln cap="flat" cmpd="sng" w="12700">
            <a:solidFill>
              <a:srgbClr val="E07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9326880" y="15087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00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E07B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9326880" y="221284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C93"/>
                </a:solidFill>
                <a:latin typeface="Calibri"/>
                <a:ea typeface="Calibri"/>
                <a:cs typeface="Calibri"/>
                <a:sym typeface="Calibri"/>
              </a:rPr>
              <a:t>Bugs Found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5720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D3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D36"/>
                </a:solidFill>
                <a:latin typeface="Calibri"/>
                <a:ea typeface="Calibri"/>
                <a:cs typeface="Calibri"/>
                <a:sym typeface="Calibri"/>
              </a:rPr>
              <a:t>Coverage by Module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7" name="Google Shape;467;p12"/>
          <p:cNvGraphicFramePr/>
          <p:nvPr/>
        </p:nvGraphicFramePr>
        <p:xfrm>
          <a:off x="45720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{B2481B11-2D76-49EA-A428-92F06416CD72}</a:tableStyleId>
              </a:tblPr>
              <a:tblGrid>
                <a:gridCol w="2170025"/>
                <a:gridCol w="1424025"/>
                <a:gridCol w="1163075"/>
                <a:gridCol w="1271225"/>
                <a:gridCol w="13655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3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TC-001–008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Hamza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Bookings (List &amp; Filter)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TC-009–019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Moneera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Booking by 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TC-020–030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Moneera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Booking (POST)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TC-031–042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Fadi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 Booking (PUT)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TC-043–056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Fadi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Update (PATCH)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TC-057–073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Hassan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Booking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TC-074–083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Hassan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 Check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C9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C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TC-084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9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D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D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Hamza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68" name="Google Shape;468;p12" title="BugSummeryRe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275" y="3163825"/>
            <a:ext cx="4036075" cy="302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D36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/>
          <p:nvPr/>
        </p:nvSpPr>
        <p:spPr>
          <a:xfrm>
            <a:off x="-2286000" y="-1645920"/>
            <a:ext cx="5029200" cy="5029200"/>
          </a:xfrm>
          <a:prstGeom prst="ellipse">
            <a:avLst/>
          </a:prstGeom>
          <a:solidFill>
            <a:srgbClr val="153559"/>
          </a:solidFill>
          <a:ln cap="flat" cmpd="sng" w="12700">
            <a:solidFill>
              <a:srgbClr val="153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9902952" y="4114800"/>
            <a:ext cx="4114800" cy="4114800"/>
          </a:xfrm>
          <a:prstGeom prst="ellipse">
            <a:avLst/>
          </a:prstGeom>
          <a:solidFill>
            <a:srgbClr val="153559"/>
          </a:solidFill>
          <a:ln cap="flat" cmpd="sng" w="12700">
            <a:solidFill>
              <a:srgbClr val="153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-457200" y="5029200"/>
            <a:ext cx="1463040" cy="1463040"/>
          </a:xfrm>
          <a:prstGeom prst="ellipse">
            <a:avLst/>
          </a:prstGeom>
          <a:solidFill>
            <a:srgbClr val="153559"/>
          </a:solidFill>
          <a:ln cap="flat" cmpd="sng" w="12700">
            <a:solidFill>
              <a:srgbClr val="153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Restful Booker API Testing Project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265676" y="3886200"/>
            <a:ext cx="3657600" cy="36576"/>
          </a:xfrm>
          <a:prstGeom prst="rect">
            <a:avLst/>
          </a:prstGeom>
          <a:solidFill>
            <a:srgbClr val="25A9CF"/>
          </a:solidFill>
          <a:ln cap="flat" cmpd="sng" w="12700">
            <a:solidFill>
              <a:srgbClr val="25A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A9C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A9CF"/>
                </a:solidFill>
                <a:latin typeface="Calibri"/>
                <a:ea typeface="Calibri"/>
                <a:cs typeface="Calibri"/>
                <a:sym typeface="Calibri"/>
              </a:rPr>
              <a:t>Team: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0" y="448056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Hamza Belal  ·  Moneera  ·  Fadi  ·  Hasan Aburajab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9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B7C93"/>
                </a:solidFill>
                <a:latin typeface="Consolas"/>
                <a:ea typeface="Consolas"/>
                <a:cs typeface="Consolas"/>
                <a:sym typeface="Consolas"/>
              </a:rPr>
              <a:t>https://restful-booker.herokuapp.com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2026-04-16T10:49:39Z</dcterms:created>
  <dc:creator>Hamza, Moneera, Fadi, Hassan</dc:creator>
</cp:coreProperties>
</file>